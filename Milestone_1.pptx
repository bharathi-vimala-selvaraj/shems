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uce" charset="1" panose="00000500000000000000"/>
      <p:regular r:id="rId16"/>
    </p:embeddedFont>
    <p:embeddedFont>
      <p:font typeface="Open Sauce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45369" y="952566"/>
            <a:ext cx="13533589" cy="6689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Smart Home Energy Management System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917829" y="1525966"/>
            <a:ext cx="4544458" cy="4114800"/>
          </a:xfrm>
          <a:custGeom>
            <a:avLst/>
            <a:gdLst/>
            <a:ahLst/>
            <a:cxnLst/>
            <a:rect r="r" b="b" t="t" l="l"/>
            <a:pathLst>
              <a:path h="4114800" w="4544458">
                <a:moveTo>
                  <a:pt x="0" y="0"/>
                </a:moveTo>
                <a:lnTo>
                  <a:pt x="4544458" y="0"/>
                </a:lnTo>
                <a:lnTo>
                  <a:pt x="45444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698616" y="7369021"/>
            <a:ext cx="4560684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  <a:spcBef>
                <a:spcPct val="0"/>
              </a:spcBef>
            </a:pPr>
            <a:r>
              <a:rPr lang="en-US" b="true" sz="2400" spc="24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93632" y="8021886"/>
            <a:ext cx="456068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BHARATHI SELVARAJ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6026" y="358299"/>
            <a:ext cx="18653517" cy="2644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92"/>
              </a:lnSpc>
            </a:pPr>
            <a:r>
              <a:rPr lang="en-US" sz="7637" spc="156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Smart Home Energy Management System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698616" y="3405449"/>
            <a:ext cx="6210622" cy="7458170"/>
          </a:xfrm>
          <a:custGeom>
            <a:avLst/>
            <a:gdLst/>
            <a:ahLst/>
            <a:cxnLst/>
            <a:rect r="r" b="b" t="t" l="l"/>
            <a:pathLst>
              <a:path h="7458170" w="6210622">
                <a:moveTo>
                  <a:pt x="0" y="0"/>
                </a:moveTo>
                <a:lnTo>
                  <a:pt x="6210621" y="0"/>
                </a:lnTo>
                <a:lnTo>
                  <a:pt x="6210621" y="7458171"/>
                </a:lnTo>
                <a:lnTo>
                  <a:pt x="0" y="7458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4814" y="3570408"/>
            <a:ext cx="11290008" cy="483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S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ma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rt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ome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ner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gy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Management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S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ys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te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(SHEMS)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is a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Java-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power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ed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web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pl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at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orm t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at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el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monitor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, a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alyze,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and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manag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energy usage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thin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ho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hold.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 contin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uou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ly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o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bserves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he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ectricit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y consumption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of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various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evice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s, est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mate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upcoming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usage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pa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te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ns,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an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off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guida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ce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to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low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er o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ve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al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we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 c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sts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SHEMS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i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ncl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an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nte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ac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tiv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da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hboa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rd t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di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sp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lay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l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ive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energy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da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a,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ig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hl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ights p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ea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k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sumption perio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s,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vides c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ost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projections,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nd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de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rs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ctic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ips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for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ng ene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gy eff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cie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cy.</a:t>
            </a:r>
          </a:p>
          <a:p>
            <a:pPr algn="l">
              <a:lnSpc>
                <a:spcPts val="384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93210" y="2371875"/>
            <a:ext cx="1050505" cy="1263766"/>
          </a:xfrm>
          <a:custGeom>
            <a:avLst/>
            <a:gdLst/>
            <a:ahLst/>
            <a:cxnLst/>
            <a:rect r="r" b="b" t="t" l="l"/>
            <a:pathLst>
              <a:path h="1263766" w="1050505">
                <a:moveTo>
                  <a:pt x="0" y="0"/>
                </a:moveTo>
                <a:lnTo>
                  <a:pt x="1050505" y="0"/>
                </a:lnTo>
                <a:lnTo>
                  <a:pt x="1050505" y="1263765"/>
                </a:lnTo>
                <a:lnTo>
                  <a:pt x="0" y="12637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6178" y="1290029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problem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33828" y="3897304"/>
            <a:ext cx="27468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564733"/>
            <a:ext cx="1262276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- La</a:t>
            </a:r>
            <a:r>
              <a:rPr lang="en-US" sz="24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ck of centralized control over smart appliances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- Insecure access to devices, leading to potential misuse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- Difficulty in tracking energy consumption and identifying areas for optimization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93210" y="6037298"/>
            <a:ext cx="27468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existing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700238"/>
            <a:ext cx="12622760" cy="392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Hom</a:t>
            </a:r>
            <a:r>
              <a:rPr lang="en-US" sz="24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es mostly use basic electricity meters that show only total monthly consumption.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No real-time tracking or appliance-wise monitoring of energy usage.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Lacks automated analysis, predictions, and suggestions for reducing power consumption.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EE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181188"/>
            <a:ext cx="18288000" cy="7614470"/>
            <a:chOff x="0" y="0"/>
            <a:chExt cx="1811948" cy="7544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1948" cy="754430"/>
            </a:xfrm>
            <a:custGeom>
              <a:avLst/>
              <a:gdLst/>
              <a:ahLst/>
              <a:cxnLst/>
              <a:rect r="r" b="b" t="t" l="l"/>
              <a:pathLst>
                <a:path h="754430" w="1811948">
                  <a:moveTo>
                    <a:pt x="1811948" y="0"/>
                  </a:moveTo>
                  <a:lnTo>
                    <a:pt x="1811948" y="640130"/>
                  </a:lnTo>
                  <a:lnTo>
                    <a:pt x="905974" y="754430"/>
                  </a:lnTo>
                  <a:lnTo>
                    <a:pt x="0" y="640130"/>
                  </a:lnTo>
                  <a:lnTo>
                    <a:pt x="0" y="0"/>
                  </a:lnTo>
                  <a:lnTo>
                    <a:pt x="1811948" y="0"/>
                  </a:lnTo>
                  <a:close/>
                </a:path>
              </a:pathLst>
            </a:custGeom>
            <a:solidFill>
              <a:srgbClr val="FAF7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11948" cy="687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5564" y="1123950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proposed 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6117" y="3211195"/>
            <a:ext cx="4238166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odule 1: Authentication and Role Management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- Main Classes: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1. UserAuthController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2. AuthService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3. UserRepository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98790" y="3256646"/>
            <a:ext cx="4238166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Smar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 Device Management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- Main Classes: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1. Device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2. DeviceController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3. DeviceService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4. DeviceRepository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21134" y="3286222"/>
            <a:ext cx="4238166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Real Time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Energy Tracking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- Main Classes: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1. UsageLog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2. EnergyTrackingController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3. EnergyTrackingService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4. UsageRepository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29395" y="2568897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82621" y="2568897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43706" y="2568897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6117" y="7611842"/>
            <a:ext cx="4238166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nalytics Dashboard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- Main Classes: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1. AnalyticsController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2. AnalyticsService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3. ChartGenerator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4. AnalyticsRepository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29395" y="6902547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37366" y="7656927"/>
            <a:ext cx="4238166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Schedul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ing and Automation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- Main Classes: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1. Schedule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2. SchedulerController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3. SchedulerService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4. NotificationService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5. SchedulerRepository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08748" y="6966682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20344" y="7797579"/>
            <a:ext cx="4238166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Rec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ommendation System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- Main Classes: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1. Recommendation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2. RecommendationController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3. RecommendationService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004175" y="6966682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21117" y="2765964"/>
            <a:ext cx="13093913" cy="434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Front-End: HTML, CSS, Boo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strap, T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ym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leaf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Back-End: Java 17/21, Spring MVC, Spring Boot, Spring Security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REST API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Layer: Spring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Boo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 REST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Controllers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Persistence Layer: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Hibe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rn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ate 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/ JPA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Database: MySQL (Workbench) / PostgreSQL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y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me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nt: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Dock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533774" y="4273802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86350" y="1586769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system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EE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6971" y="864874"/>
            <a:ext cx="18071029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85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MODULE OBJECTIVE </a:t>
            </a:r>
          </a:p>
          <a:p>
            <a:pPr algn="l">
              <a:lnSpc>
                <a:spcPts val="480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4986" y="4371975"/>
            <a:ext cx="5349117" cy="1543050"/>
            <a:chOff x="0" y="0"/>
            <a:chExt cx="1408821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8821" cy="406400"/>
            </a:xfrm>
            <a:custGeom>
              <a:avLst/>
              <a:gdLst/>
              <a:ahLst/>
              <a:cxnLst/>
              <a:rect r="r" b="b" t="t" l="l"/>
              <a:pathLst>
                <a:path h="406400" w="1408821">
                  <a:moveTo>
                    <a:pt x="120562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205621" y="406400"/>
                  </a:lnTo>
                  <a:lnTo>
                    <a:pt x="1408821" y="203200"/>
                  </a:lnTo>
                  <a:lnTo>
                    <a:pt x="1205621" y="0"/>
                  </a:lnTo>
                  <a:close/>
                </a:path>
              </a:pathLst>
            </a:custGeom>
            <a:solidFill>
              <a:srgbClr val="8C775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29452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238019" y="4407218"/>
            <a:ext cx="4642700" cy="1543050"/>
            <a:chOff x="0" y="0"/>
            <a:chExt cx="1222769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22769" cy="406400"/>
            </a:xfrm>
            <a:custGeom>
              <a:avLst/>
              <a:gdLst/>
              <a:ahLst/>
              <a:cxnLst/>
              <a:rect r="r" b="b" t="t" l="l"/>
              <a:pathLst>
                <a:path h="406400" w="1222769">
                  <a:moveTo>
                    <a:pt x="0" y="0"/>
                  </a:moveTo>
                  <a:lnTo>
                    <a:pt x="1019569" y="0"/>
                  </a:lnTo>
                  <a:lnTo>
                    <a:pt x="1222769" y="203200"/>
                  </a:lnTo>
                  <a:lnTo>
                    <a:pt x="1019569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7753">
                <a:alpha val="8000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77800" y="-47625"/>
              <a:ext cx="96876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13450" y="4461702"/>
            <a:ext cx="3554509" cy="1543050"/>
            <a:chOff x="0" y="0"/>
            <a:chExt cx="936167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6167" cy="406400"/>
            </a:xfrm>
            <a:custGeom>
              <a:avLst/>
              <a:gdLst/>
              <a:ahLst/>
              <a:cxnLst/>
              <a:rect r="r" b="b" t="t" l="l"/>
              <a:pathLst>
                <a:path h="406400" w="936167">
                  <a:moveTo>
                    <a:pt x="0" y="0"/>
                  </a:moveTo>
                  <a:lnTo>
                    <a:pt x="732967" y="0"/>
                  </a:lnTo>
                  <a:lnTo>
                    <a:pt x="936167" y="203200"/>
                  </a:lnTo>
                  <a:lnTo>
                    <a:pt x="732967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7753">
                <a:alpha val="6000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77800" y="-47625"/>
              <a:ext cx="682167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698616" y="4461702"/>
            <a:ext cx="7292045" cy="1543050"/>
            <a:chOff x="0" y="0"/>
            <a:chExt cx="1920539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0539" cy="406400"/>
            </a:xfrm>
            <a:custGeom>
              <a:avLst/>
              <a:gdLst/>
              <a:ahLst/>
              <a:cxnLst/>
              <a:rect r="r" b="b" t="t" l="l"/>
              <a:pathLst>
                <a:path h="406400" w="1920539">
                  <a:moveTo>
                    <a:pt x="0" y="0"/>
                  </a:moveTo>
                  <a:lnTo>
                    <a:pt x="1717339" y="0"/>
                  </a:lnTo>
                  <a:lnTo>
                    <a:pt x="1920539" y="203200"/>
                  </a:lnTo>
                  <a:lnTo>
                    <a:pt x="1717339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5308">
                <a:alpha val="4000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-47625"/>
              <a:ext cx="166653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060602" y="5185602"/>
            <a:ext cx="281014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68016" y="5095875"/>
            <a:ext cx="287598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AUTHCONTROLLER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69766" y="4972050"/>
            <a:ext cx="222885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AUTHSERVICE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3744" y="7054316"/>
            <a:ext cx="3917007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Represents a system user.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Stores login credentials, personal details, and assigned role.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Used for authentication, authorization, and profile management.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84103" y="6992403"/>
            <a:ext cx="4073321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Exposes API endpoints for authen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tication actions such as login, logout, token-based validation, and user registration.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411514" y="6936206"/>
            <a:ext cx="435574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Hand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les database operations related to the User class.</a:t>
            </a:r>
          </a:p>
        </p:txBody>
      </p:sp>
      <p:sp>
        <p:nvSpPr>
          <p:cNvPr name="AutoShape 22" id="22"/>
          <p:cNvSpPr/>
          <p:nvPr/>
        </p:nvSpPr>
        <p:spPr>
          <a:xfrm>
            <a:off x="2541437" y="5551362"/>
            <a:ext cx="0" cy="861252"/>
          </a:xfrm>
          <a:prstGeom prst="line">
            <a:avLst/>
          </a:prstGeom>
          <a:ln cap="flat" w="38100">
            <a:solidFill>
              <a:srgbClr val="8C775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3" id="23"/>
          <p:cNvSpPr/>
          <p:nvPr/>
        </p:nvSpPr>
        <p:spPr>
          <a:xfrm>
            <a:off x="7173050" y="5699760"/>
            <a:ext cx="0" cy="861252"/>
          </a:xfrm>
          <a:prstGeom prst="line">
            <a:avLst/>
          </a:prstGeom>
          <a:ln cap="flat" w="38100">
            <a:solidFill>
              <a:srgbClr val="8C7753">
                <a:alpha val="69804"/>
              </a:srgbClr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4" id="24"/>
          <p:cNvSpPr/>
          <p:nvPr/>
        </p:nvSpPr>
        <p:spPr>
          <a:xfrm>
            <a:off x="11565141" y="5461635"/>
            <a:ext cx="0" cy="861252"/>
          </a:xfrm>
          <a:prstGeom prst="line">
            <a:avLst/>
          </a:prstGeom>
          <a:ln cap="flat" w="38100">
            <a:solidFill>
              <a:srgbClr val="8C7753">
                <a:alpha val="40000"/>
              </a:srgbClr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5" id="25"/>
          <p:cNvSpPr txBox="true"/>
          <p:nvPr/>
        </p:nvSpPr>
        <p:spPr>
          <a:xfrm rot="0">
            <a:off x="2171053" y="6618071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</a:t>
            </a:r>
          </a:p>
        </p:txBody>
      </p:sp>
      <p:sp>
        <p:nvSpPr>
          <p:cNvPr name="AutoShape 26" id="26"/>
          <p:cNvSpPr/>
          <p:nvPr/>
        </p:nvSpPr>
        <p:spPr>
          <a:xfrm>
            <a:off x="16138572" y="5461635"/>
            <a:ext cx="0" cy="861252"/>
          </a:xfrm>
          <a:prstGeom prst="line">
            <a:avLst/>
          </a:prstGeom>
          <a:ln cap="flat" w="38100">
            <a:solidFill>
              <a:srgbClr val="8C7753">
                <a:alpha val="40000"/>
              </a:srgbClr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7" id="27"/>
          <p:cNvSpPr txBox="true"/>
          <p:nvPr/>
        </p:nvSpPr>
        <p:spPr>
          <a:xfrm rot="0">
            <a:off x="14430564" y="4910137"/>
            <a:ext cx="341601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USERREPOSITORY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1321870" y="6610451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798567" y="6610451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854457" y="6618071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58939" y="6936206"/>
            <a:ext cx="4073321" cy="3709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Contains the business logic for authen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tication: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Validates credentials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Hashes/encrypts passwords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Generates and validates tokens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Coordinates with UserRepository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0" y="2667192"/>
            <a:ext cx="16907503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To p</a:t>
            </a:r>
            <a:r>
              <a:rPr lang="en-US" sz="23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rovide secure authentication and authorization mechanisms for users, ensuring that only authorized users can access and control smart devices.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16971" y="2221422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EE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89777"/>
            <a:ext cx="10274588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WORKFLOW BETWEEN CLASSES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698616" y="8730222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798939"/>
            <a:ext cx="498780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Step 1: U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ser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sends login request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4146" y="3576179"/>
            <a:ext cx="4502359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 USER en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: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rname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pas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is request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is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sent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to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AUTHCONTROLLER.l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()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AutoShape 6" id="6"/>
          <p:cNvSpPr/>
          <p:nvPr/>
        </p:nvSpPr>
        <p:spPr>
          <a:xfrm>
            <a:off x="1028700" y="5715000"/>
            <a:ext cx="16230600" cy="0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>
            <a:off x="1331126" y="3774335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3987056" y="6170789"/>
            <a:ext cx="4776879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Step 3: Service checks d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at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abase through repos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87056" y="7376654"/>
            <a:ext cx="6545465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AuthServ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ce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no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eeds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 data,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so it calls: UserRepo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sit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ory.find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erByUser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ame(user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ame)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ep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osi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ory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etches the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stor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ed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: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pa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sword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(h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shed)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ro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le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rId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name,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addres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AutoShape 10" id="10"/>
          <p:cNvSpPr/>
          <p:nvPr/>
        </p:nvSpPr>
        <p:spPr>
          <a:xfrm>
            <a:off x="3774850" y="5715036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1" id="11"/>
          <p:cNvSpPr/>
          <p:nvPr/>
        </p:nvSpPr>
        <p:spPr>
          <a:xfrm>
            <a:off x="7078813" y="3637670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0742071" y="5703712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3" id="13"/>
          <p:cNvSpPr/>
          <p:nvPr/>
        </p:nvSpPr>
        <p:spPr>
          <a:xfrm>
            <a:off x="12379613" y="3899677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7258897" y="2854220"/>
            <a:ext cx="5106344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Step 2: Cont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ller 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forwards credentials to service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59788" y="3852052"/>
            <a:ext cx="3987272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It passes the received us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ame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&amp;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pass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word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to: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AuthSer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vi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ce.v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ali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da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Login(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user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e, pa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sword)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1215937" y="6170789"/>
            <a:ext cx="3763021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Step 4: Service valid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ates 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and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nerate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 to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15937" y="7193522"/>
            <a:ext cx="5034984" cy="333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AuthService now performs: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AutoNum type="arabicPeriod" startAt="1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cryptPassword(in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putPasswor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)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AutoNum type="arabicPeriod" startAt="1"/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Compa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res with stored password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AutoNum type="arabicPeriod" startAt="1"/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If mat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→ gener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teT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oken(User)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AutoNum type="arabicPeriod" startAt="1"/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If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no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 m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atched →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turn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fa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Fin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lly, the Se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ce re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s: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cce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ss/fail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ure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JWT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oken if successful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536691" y="2949470"/>
            <a:ext cx="4698712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Step 5: Controller send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 re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 back 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use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60588" y="3949065"/>
            <a:ext cx="5315767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AuthController prepares final response: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If login success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→ send token + 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ol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If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login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failed →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error message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EE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6971" y="864874"/>
            <a:ext cx="13950258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85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CLASS USE,PROPERTY,DATABASEKEY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2348869"/>
            <a:ext cx="5349117" cy="1543050"/>
            <a:chOff x="0" y="0"/>
            <a:chExt cx="1408821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8821" cy="406400"/>
            </a:xfrm>
            <a:custGeom>
              <a:avLst/>
              <a:gdLst/>
              <a:ahLst/>
              <a:cxnLst/>
              <a:rect r="r" b="b" t="t" l="l"/>
              <a:pathLst>
                <a:path h="406400" w="1408821">
                  <a:moveTo>
                    <a:pt x="1205621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205621" y="406400"/>
                  </a:lnTo>
                  <a:lnTo>
                    <a:pt x="1408821" y="203200"/>
                  </a:lnTo>
                  <a:lnTo>
                    <a:pt x="1205621" y="0"/>
                  </a:lnTo>
                  <a:close/>
                </a:path>
              </a:pathLst>
            </a:custGeom>
            <a:solidFill>
              <a:srgbClr val="8C775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29452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870750" y="2348869"/>
            <a:ext cx="4642700" cy="1543050"/>
            <a:chOff x="0" y="0"/>
            <a:chExt cx="1222769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22769" cy="406400"/>
            </a:xfrm>
            <a:custGeom>
              <a:avLst/>
              <a:gdLst/>
              <a:ahLst/>
              <a:cxnLst/>
              <a:rect r="r" b="b" t="t" l="l"/>
              <a:pathLst>
                <a:path h="406400" w="1222769">
                  <a:moveTo>
                    <a:pt x="0" y="0"/>
                  </a:moveTo>
                  <a:lnTo>
                    <a:pt x="1019569" y="0"/>
                  </a:lnTo>
                  <a:lnTo>
                    <a:pt x="1222769" y="203200"/>
                  </a:lnTo>
                  <a:lnTo>
                    <a:pt x="1019569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7753">
                <a:alpha val="8000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77800" y="-47625"/>
              <a:ext cx="96876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07005" y="2375539"/>
            <a:ext cx="3554509" cy="1543050"/>
            <a:chOff x="0" y="0"/>
            <a:chExt cx="936167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6167" cy="406400"/>
            </a:xfrm>
            <a:custGeom>
              <a:avLst/>
              <a:gdLst/>
              <a:ahLst/>
              <a:cxnLst/>
              <a:rect r="r" b="b" t="t" l="l"/>
              <a:pathLst>
                <a:path h="406400" w="936167">
                  <a:moveTo>
                    <a:pt x="0" y="0"/>
                  </a:moveTo>
                  <a:lnTo>
                    <a:pt x="732967" y="0"/>
                  </a:lnTo>
                  <a:lnTo>
                    <a:pt x="936167" y="203200"/>
                  </a:lnTo>
                  <a:lnTo>
                    <a:pt x="732967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7753">
                <a:alpha val="6000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77800" y="-47625"/>
              <a:ext cx="682167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08434" y="2375539"/>
            <a:ext cx="7292045" cy="1543050"/>
            <a:chOff x="0" y="0"/>
            <a:chExt cx="1920539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0539" cy="406400"/>
            </a:xfrm>
            <a:custGeom>
              <a:avLst/>
              <a:gdLst/>
              <a:ahLst/>
              <a:cxnLst/>
              <a:rect r="r" b="b" t="t" l="l"/>
              <a:pathLst>
                <a:path h="406400" w="1920539">
                  <a:moveTo>
                    <a:pt x="0" y="0"/>
                  </a:moveTo>
                  <a:lnTo>
                    <a:pt x="1717339" y="0"/>
                  </a:lnTo>
                  <a:lnTo>
                    <a:pt x="1920539" y="203200"/>
                  </a:lnTo>
                  <a:lnTo>
                    <a:pt x="1717339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5308">
                <a:alpha val="4000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-47625"/>
              <a:ext cx="166653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801496" y="2913702"/>
            <a:ext cx="281014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82772" y="2940372"/>
            <a:ext cx="287598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AUTHCONTROLLER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69766" y="2913702"/>
            <a:ext cx="222885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AUTHSERVICE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6055" y="5159685"/>
            <a:ext cx="3917007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userId : int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username :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String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password : String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role : String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name : String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address : String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5033684" y="5159685"/>
            <a:ext cx="4073321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login(username,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password)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logout()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register(User)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3932260" y="5322249"/>
            <a:ext cx="4355740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findUs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erByUsername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(username) : User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saveUser(User)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updateUser(User)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AutoShape 22" id="22"/>
          <p:cNvSpPr/>
          <p:nvPr/>
        </p:nvSpPr>
        <p:spPr>
          <a:xfrm>
            <a:off x="2360963" y="3461293"/>
            <a:ext cx="0" cy="861252"/>
          </a:xfrm>
          <a:prstGeom prst="line">
            <a:avLst/>
          </a:prstGeom>
          <a:ln cap="flat" w="38100">
            <a:solidFill>
              <a:srgbClr val="8C775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3" id="23"/>
          <p:cNvSpPr/>
          <p:nvPr/>
        </p:nvSpPr>
        <p:spPr>
          <a:xfrm>
            <a:off x="7520763" y="3460865"/>
            <a:ext cx="0" cy="861252"/>
          </a:xfrm>
          <a:prstGeom prst="line">
            <a:avLst/>
          </a:prstGeom>
          <a:ln cap="flat" w="38100">
            <a:solidFill>
              <a:srgbClr val="8C7753">
                <a:alpha val="69804"/>
              </a:srgbClr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4" id="24"/>
          <p:cNvSpPr/>
          <p:nvPr/>
        </p:nvSpPr>
        <p:spPr>
          <a:xfrm>
            <a:off x="11321870" y="3461293"/>
            <a:ext cx="0" cy="861252"/>
          </a:xfrm>
          <a:prstGeom prst="line">
            <a:avLst/>
          </a:prstGeom>
          <a:ln cap="flat" w="38100">
            <a:solidFill>
              <a:srgbClr val="8C7753">
                <a:alpha val="40000"/>
              </a:srgbClr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5" id="25"/>
          <p:cNvSpPr txBox="true"/>
          <p:nvPr/>
        </p:nvSpPr>
        <p:spPr>
          <a:xfrm rot="0">
            <a:off x="1624244" y="4589246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PROPERTIES</a:t>
            </a:r>
          </a:p>
        </p:txBody>
      </p:sp>
      <p:sp>
        <p:nvSpPr>
          <p:cNvPr name="AutoShape 26" id="26"/>
          <p:cNvSpPr/>
          <p:nvPr/>
        </p:nvSpPr>
        <p:spPr>
          <a:xfrm>
            <a:off x="15854457" y="3460865"/>
            <a:ext cx="0" cy="861252"/>
          </a:xfrm>
          <a:prstGeom prst="line">
            <a:avLst/>
          </a:prstGeom>
          <a:ln cap="flat" w="38100">
            <a:solidFill>
              <a:srgbClr val="8C7753">
                <a:alpha val="40000"/>
              </a:srgbClr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7" id="27"/>
          <p:cNvSpPr txBox="true"/>
          <p:nvPr/>
        </p:nvSpPr>
        <p:spPr>
          <a:xfrm rot="0">
            <a:off x="14411514" y="2913702"/>
            <a:ext cx="341601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USERREPOSITORY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876332" y="4617821"/>
            <a:ext cx="2735065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PROPERTIES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88385" y="5169210"/>
            <a:ext cx="3591611" cy="3971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7045" indent="-243523" lvl="1">
              <a:lnSpc>
                <a:spcPts val="3158"/>
              </a:lnSpc>
              <a:buFont typeface="Arial"/>
              <a:buChar char="•"/>
            </a:pPr>
            <a:r>
              <a:rPr lang="en-US" sz="225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validateLogin</a:t>
            </a:r>
          </a:p>
          <a:p>
            <a:pPr algn="l">
              <a:lnSpc>
                <a:spcPts val="3158"/>
              </a:lnSpc>
              <a:spcBef>
                <a:spcPct val="0"/>
              </a:spcBef>
            </a:pPr>
            <a:r>
              <a:rPr lang="en-US" sz="225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(username, password) : bo</a:t>
            </a:r>
            <a:r>
              <a:rPr lang="en-US" sz="225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olean</a:t>
            </a:r>
          </a:p>
          <a:p>
            <a:pPr algn="l" marL="487045" indent="-243523" lvl="1">
              <a:lnSpc>
                <a:spcPts val="3158"/>
              </a:lnSpc>
              <a:spcBef>
                <a:spcPct val="0"/>
              </a:spcBef>
              <a:buFont typeface="Arial"/>
              <a:buChar char="•"/>
            </a:pPr>
            <a:r>
              <a:rPr lang="en-US" sz="225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encryptPassword</a:t>
            </a:r>
          </a:p>
          <a:p>
            <a:pPr algn="l">
              <a:lnSpc>
                <a:spcPts val="3158"/>
              </a:lnSpc>
              <a:spcBef>
                <a:spcPct val="0"/>
              </a:spcBef>
            </a:pPr>
            <a:r>
              <a:rPr lang="en-US" sz="225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(password) : String</a:t>
            </a:r>
          </a:p>
          <a:p>
            <a:pPr algn="l" marL="487045" indent="-243523" lvl="1">
              <a:lnSpc>
                <a:spcPts val="3158"/>
              </a:lnSpc>
              <a:spcBef>
                <a:spcPct val="0"/>
              </a:spcBef>
              <a:buFont typeface="Arial"/>
              <a:buChar char="•"/>
            </a:pPr>
            <a:r>
              <a:rPr lang="en-US" sz="225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25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enerateToken</a:t>
            </a:r>
          </a:p>
          <a:p>
            <a:pPr algn="l">
              <a:lnSpc>
                <a:spcPts val="3158"/>
              </a:lnSpc>
              <a:spcBef>
                <a:spcPct val="0"/>
              </a:spcBef>
            </a:pPr>
            <a:r>
              <a:rPr lang="en-US" sz="225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(User) : String</a:t>
            </a:r>
          </a:p>
          <a:p>
            <a:pPr algn="l" marL="487045" indent="-243523" lvl="1">
              <a:lnSpc>
                <a:spcPts val="3158"/>
              </a:lnSpc>
              <a:spcBef>
                <a:spcPct val="0"/>
              </a:spcBef>
              <a:buFont typeface="Arial"/>
              <a:buChar char="•"/>
            </a:pPr>
            <a:r>
              <a:rPr lang="en-US" sz="225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validateToken</a:t>
            </a:r>
          </a:p>
          <a:p>
            <a:pPr algn="l">
              <a:lnSpc>
                <a:spcPts val="3158"/>
              </a:lnSpc>
              <a:spcBef>
                <a:spcPct val="0"/>
              </a:spcBef>
            </a:pPr>
            <a:r>
              <a:rPr lang="en-US" sz="225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(</a:t>
            </a:r>
            <a:r>
              <a:rPr lang="en-US" sz="225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token) : boolean</a:t>
            </a:r>
          </a:p>
          <a:p>
            <a:pPr algn="l">
              <a:lnSpc>
                <a:spcPts val="3158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9954337" y="4669256"/>
            <a:ext cx="2735065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PROPERTIES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524235" y="4617821"/>
            <a:ext cx="2735065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PROPERTIES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2485" y="7782870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DATABASE KEY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97430" y="8219115"/>
            <a:ext cx="4073321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Primary Key: userId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Unique Key: username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dexed: role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4073470" y="8219115"/>
            <a:ext cx="4073321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Primary Key: userId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Unique Key: username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dexed: role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4334382" y="7782870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DATABASE KEY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9823" y="0"/>
            <a:ext cx="17568354" cy="10497091"/>
          </a:xfrm>
          <a:custGeom>
            <a:avLst/>
            <a:gdLst/>
            <a:ahLst/>
            <a:cxnLst/>
            <a:rect r="r" b="b" t="t" l="l"/>
            <a:pathLst>
              <a:path h="10497091" w="17568354">
                <a:moveTo>
                  <a:pt x="0" y="0"/>
                </a:moveTo>
                <a:lnTo>
                  <a:pt x="17568354" y="0"/>
                </a:lnTo>
                <a:lnTo>
                  <a:pt x="17568354" y="10497091"/>
                </a:lnTo>
                <a:lnTo>
                  <a:pt x="0" y="104970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7483893" y="6052054"/>
            <a:ext cx="0" cy="861252"/>
          </a:xfrm>
          <a:prstGeom prst="line">
            <a:avLst/>
          </a:prstGeom>
          <a:ln cap="flat" w="38100">
            <a:solidFill>
              <a:srgbClr val="8C7753">
                <a:alpha val="69804"/>
              </a:srgbClr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" id="4"/>
          <p:cNvSpPr/>
          <p:nvPr/>
        </p:nvSpPr>
        <p:spPr>
          <a:xfrm flipV="true">
            <a:off x="9978864" y="2811267"/>
            <a:ext cx="459353" cy="4102039"/>
          </a:xfrm>
          <a:prstGeom prst="line">
            <a:avLst/>
          </a:prstGeom>
          <a:ln cap="flat" w="38100">
            <a:solidFill>
              <a:srgbClr val="8C7753">
                <a:alpha val="69804"/>
              </a:srgbClr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5" id="5"/>
          <p:cNvSpPr txBox="true"/>
          <p:nvPr/>
        </p:nvSpPr>
        <p:spPr>
          <a:xfrm rot="0">
            <a:off x="10953048" y="4507230"/>
            <a:ext cx="13950258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85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database schema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3450" y="2696608"/>
            <a:ext cx="10910528" cy="173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DAG6SOsMbC8</dc:identifier>
  <dcterms:modified xsi:type="dcterms:W3CDTF">2011-08-01T06:04:30Z</dcterms:modified>
  <cp:revision>1</cp:revision>
  <dc:title>White Beige and Brown Simple Minimalist Clean Final Project Presentation</dc:title>
</cp:coreProperties>
</file>