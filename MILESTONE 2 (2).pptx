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rittany" charset="1" panose="00000000000000000000"/>
      <p:regular r:id="rId18"/>
    </p:embeddedFont>
    <p:embeddedFont>
      <p:font typeface="Open Sauce Bold" charset="1" panose="00000800000000000000"/>
      <p:regular r:id="rId19"/>
    </p:embeddedFont>
    <p:embeddedFont>
      <p:font typeface="Open Sauce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5369" y="-38034"/>
            <a:ext cx="15082170" cy="510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88"/>
              </a:lnSpc>
            </a:pPr>
            <a:r>
              <a:rPr lang="en-US" sz="11041" spc="541">
                <a:solidFill>
                  <a:srgbClr val="D13A7C"/>
                </a:solidFill>
                <a:latin typeface="Brittany"/>
                <a:ea typeface="Brittany"/>
                <a:cs typeface="Brittany"/>
                <a:sym typeface="Brittany"/>
              </a:rPr>
              <a:t>Smart Home Energy Management System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893632" y="1954487"/>
            <a:ext cx="5589384" cy="2700625"/>
          </a:xfrm>
          <a:custGeom>
            <a:avLst/>
            <a:gdLst/>
            <a:ahLst/>
            <a:cxnLst/>
            <a:rect r="r" b="b" t="t" l="l"/>
            <a:pathLst>
              <a:path h="2700625" w="5589384">
                <a:moveTo>
                  <a:pt x="0" y="0"/>
                </a:moveTo>
                <a:lnTo>
                  <a:pt x="5589385" y="0"/>
                </a:lnTo>
                <a:lnTo>
                  <a:pt x="5589385" y="2700625"/>
                </a:lnTo>
                <a:lnTo>
                  <a:pt x="0" y="2700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83789" y="6557860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83789" y="7247596"/>
            <a:ext cx="456068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BHARATHI SELVARAJ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181188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5498849" y="2186551"/>
            <a:ext cx="7522285" cy="3944386"/>
          </a:xfrm>
          <a:custGeom>
            <a:avLst/>
            <a:gdLst/>
            <a:ahLst/>
            <a:cxnLst/>
            <a:rect r="r" b="b" t="t" l="l"/>
            <a:pathLst>
              <a:path h="3944386" w="7522285">
                <a:moveTo>
                  <a:pt x="7522285" y="0"/>
                </a:moveTo>
                <a:lnTo>
                  <a:pt x="0" y="0"/>
                </a:lnTo>
                <a:lnTo>
                  <a:pt x="0" y="3944386"/>
                </a:lnTo>
                <a:lnTo>
                  <a:pt x="7522285" y="3944386"/>
                </a:lnTo>
                <a:lnTo>
                  <a:pt x="752228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5564" y="1123950"/>
            <a:ext cx="1239814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Smart Home Energy Management System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6117" y="3211195"/>
            <a:ext cx="4238166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odule 1: Authentication and Role Management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UserAuthController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AuthService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UserRepository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49345" y="2799719"/>
            <a:ext cx="6222344" cy="326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Smar</a:t>
            </a:r>
            <a:r>
              <a:rPr lang="en-US" sz="308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 Device Management</a:t>
            </a:r>
          </a:p>
          <a:p>
            <a:pPr algn="ctr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Device</a:t>
            </a:r>
          </a:p>
          <a:p>
            <a:pPr algn="ctr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DeviceController</a:t>
            </a:r>
          </a:p>
          <a:p>
            <a:pPr algn="ctr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DeviceService</a:t>
            </a:r>
          </a:p>
          <a:p>
            <a:pPr algn="ctr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4. DeviceRepository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21134" y="3286222"/>
            <a:ext cx="4238166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Real Time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Energy Tracking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UsageLog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EnergyTrackingController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EnergyTrackingService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4. UsageRepository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795082" y="2072251"/>
            <a:ext cx="5494981" cy="10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6"/>
              </a:lnSpc>
              <a:spcBef>
                <a:spcPct val="0"/>
              </a:spcBef>
            </a:pPr>
            <a:r>
              <a:rPr lang="en-US" b="true" sz="6125">
                <a:solidFill>
                  <a:srgbClr val="FDCA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88738" y="1912350"/>
            <a:ext cx="5653226" cy="107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3"/>
              </a:lnSpc>
              <a:spcBef>
                <a:spcPct val="0"/>
              </a:spcBef>
            </a:pPr>
            <a:r>
              <a:rPr lang="en-US" b="true" sz="6302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43706" y="2568897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6117" y="7611842"/>
            <a:ext cx="4238166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nalytics Dashboard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AnalyticsController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AnalyticsService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ChartGenerator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4. AnalyticsRepository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9395" y="6902547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37366" y="7656927"/>
            <a:ext cx="4238166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Schedul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 and Automation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Schedule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SchedulerController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SchedulerService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4. NotificationService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5. SchedulerRepository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08748" y="6966682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21134" y="7685502"/>
            <a:ext cx="4238166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Rec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ommendation System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Recommendation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RecommendationController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RecommendationService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04175" y="6966682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72" y="1554173"/>
            <a:ext cx="22056213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Module 1 handles user authentication and role management.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It ensures only authorized users can securely access the system.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31657" y="758190"/>
            <a:ext cx="18071029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85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module 1 review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87651" y="2967683"/>
            <a:ext cx="8575278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C32D6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Classes &amp; Their Responsibilities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211003"/>
            <a:ext cx="5938707" cy="5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🧑‍💻</a:t>
            </a: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1. UserAuthController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Handles login and registration requests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Receives user credentials from the frontend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Sends requests to the service layer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310182" y="4211003"/>
            <a:ext cx="6268909" cy="50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⚙️</a:t>
            </a: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 AuthService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alidates user credentials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Handles authentication logic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Manages role-based access control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284366" y="4211003"/>
            <a:ext cx="5675482" cy="5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🗄</a:t>
            </a: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️ 3. UserRepository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Communic</a:t>
            </a: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ates with the database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Stores and retrieves user details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Supports authentication operations</a:t>
            </a:r>
          </a:p>
          <a:p>
            <a:pPr algn="l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6971" y="1123950"/>
            <a:ext cx="18071029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85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Smart Device Management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2266950"/>
            <a:ext cx="5349117" cy="1543050"/>
            <a:chOff x="0" y="0"/>
            <a:chExt cx="1408821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8821" cy="406400"/>
            </a:xfrm>
            <a:custGeom>
              <a:avLst/>
              <a:gdLst/>
              <a:ahLst/>
              <a:cxnLst/>
              <a:rect r="r" b="b" t="t" l="l"/>
              <a:pathLst>
                <a:path h="406400" w="1408821">
                  <a:moveTo>
                    <a:pt x="120562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05621" y="406400"/>
                  </a:lnTo>
                  <a:lnTo>
                    <a:pt x="1408821" y="203200"/>
                  </a:lnTo>
                  <a:lnTo>
                    <a:pt x="1205621" y="0"/>
                  </a:lnTo>
                  <a:close/>
                </a:path>
              </a:pathLst>
            </a:custGeom>
            <a:solidFill>
              <a:srgbClr val="EABFD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9452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62812" y="2266950"/>
            <a:ext cx="5286392" cy="1543050"/>
            <a:chOff x="0" y="0"/>
            <a:chExt cx="1392301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2301" cy="406400"/>
            </a:xfrm>
            <a:custGeom>
              <a:avLst/>
              <a:gdLst/>
              <a:ahLst/>
              <a:cxnLst/>
              <a:rect r="r" b="b" t="t" l="l"/>
              <a:pathLst>
                <a:path h="406400" w="1392301">
                  <a:moveTo>
                    <a:pt x="0" y="0"/>
                  </a:moveTo>
                  <a:lnTo>
                    <a:pt x="1189101" y="0"/>
                  </a:lnTo>
                  <a:lnTo>
                    <a:pt x="1392301" y="203200"/>
                  </a:lnTo>
                  <a:lnTo>
                    <a:pt x="118910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D1DE">
                <a:alpha val="8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47625"/>
              <a:ext cx="113830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33257" y="2211609"/>
            <a:ext cx="4629117" cy="1653732"/>
            <a:chOff x="0" y="0"/>
            <a:chExt cx="1137592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7592" cy="406400"/>
            </a:xfrm>
            <a:custGeom>
              <a:avLst/>
              <a:gdLst/>
              <a:ahLst/>
              <a:cxnLst/>
              <a:rect r="r" b="b" t="t" l="l"/>
              <a:pathLst>
                <a:path h="406400" w="1137592">
                  <a:moveTo>
                    <a:pt x="0" y="0"/>
                  </a:moveTo>
                  <a:lnTo>
                    <a:pt x="934392" y="0"/>
                  </a:lnTo>
                  <a:lnTo>
                    <a:pt x="1137592" y="203200"/>
                  </a:lnTo>
                  <a:lnTo>
                    <a:pt x="93439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BFDA">
                <a:alpha val="6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47625"/>
              <a:ext cx="883592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54677" y="2322291"/>
            <a:ext cx="6209246" cy="1543050"/>
            <a:chOff x="0" y="0"/>
            <a:chExt cx="1635357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5357" cy="406400"/>
            </a:xfrm>
            <a:custGeom>
              <a:avLst/>
              <a:gdLst/>
              <a:ahLst/>
              <a:cxnLst/>
              <a:rect r="r" b="b" t="t" l="l"/>
              <a:pathLst>
                <a:path h="406400" w="1635357">
                  <a:moveTo>
                    <a:pt x="0" y="0"/>
                  </a:moveTo>
                  <a:lnTo>
                    <a:pt x="1432157" y="0"/>
                  </a:lnTo>
                  <a:lnTo>
                    <a:pt x="1635357" y="203200"/>
                  </a:lnTo>
                  <a:lnTo>
                    <a:pt x="1432157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BFDA">
                <a:alpha val="4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47625"/>
              <a:ext cx="138135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96329" y="2855278"/>
            <a:ext cx="295645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C32D6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Purpose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68016" y="2445512"/>
            <a:ext cx="2875984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C32D6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Functions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73080" y="2445512"/>
            <a:ext cx="3129953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D13A7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Main Components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4254264"/>
            <a:ext cx="4524607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Manage all smar</a:t>
            </a: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 home devices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Allow users to control devices (ON/OFF)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Maintain real-time device status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17803" y="4275138"/>
            <a:ext cx="4256113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Add/Update/Dele</a:t>
            </a: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 device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Fetch list of devices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Control device operations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Store and update device configurations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11907" y="4341495"/>
            <a:ext cx="4355740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evice status updates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Device list for dashboard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51632" y="2810828"/>
            <a:ext cx="3416015" cy="15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D13A7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Outputs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782790" y="4341495"/>
            <a:ext cx="4220243" cy="260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DeviceCon</a:t>
            </a: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troller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DeviceService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DeviceRepository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Device (Model)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0755" y="5681894"/>
            <a:ext cx="4067818" cy="4556619"/>
          </a:xfrm>
          <a:custGeom>
            <a:avLst/>
            <a:gdLst/>
            <a:ahLst/>
            <a:cxnLst/>
            <a:rect r="r" b="b" t="t" l="l"/>
            <a:pathLst>
              <a:path h="4556619" w="4067818">
                <a:moveTo>
                  <a:pt x="0" y="0"/>
                </a:moveTo>
                <a:lnTo>
                  <a:pt x="4067818" y="0"/>
                </a:lnTo>
                <a:lnTo>
                  <a:pt x="4067818" y="4556620"/>
                </a:lnTo>
                <a:lnTo>
                  <a:pt x="0" y="455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55052" y="5681894"/>
            <a:ext cx="4088948" cy="4580288"/>
          </a:xfrm>
          <a:custGeom>
            <a:avLst/>
            <a:gdLst/>
            <a:ahLst/>
            <a:cxnLst/>
            <a:rect r="r" b="b" t="t" l="l"/>
            <a:pathLst>
              <a:path h="4580288" w="4088948">
                <a:moveTo>
                  <a:pt x="0" y="0"/>
                </a:moveTo>
                <a:lnTo>
                  <a:pt x="4088948" y="0"/>
                </a:lnTo>
                <a:lnTo>
                  <a:pt x="4088948" y="4580288"/>
                </a:lnTo>
                <a:lnTo>
                  <a:pt x="0" y="4580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5052" y="1028700"/>
            <a:ext cx="3673394" cy="4114800"/>
          </a:xfrm>
          <a:custGeom>
            <a:avLst/>
            <a:gdLst/>
            <a:ahLst/>
            <a:cxnLst/>
            <a:rect r="r" b="b" t="t" l="l"/>
            <a:pathLst>
              <a:path h="4114800" w="3673394">
                <a:moveTo>
                  <a:pt x="0" y="0"/>
                </a:moveTo>
                <a:lnTo>
                  <a:pt x="3673394" y="0"/>
                </a:lnTo>
                <a:lnTo>
                  <a:pt x="36733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3673394" cy="4114800"/>
          </a:xfrm>
          <a:custGeom>
            <a:avLst/>
            <a:gdLst/>
            <a:ahLst/>
            <a:cxnLst/>
            <a:rect r="r" b="b" t="t" l="l"/>
            <a:pathLst>
              <a:path h="4114800" w="3673394">
                <a:moveTo>
                  <a:pt x="0" y="0"/>
                </a:moveTo>
                <a:lnTo>
                  <a:pt x="3673394" y="0"/>
                </a:lnTo>
                <a:lnTo>
                  <a:pt x="36733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96425" y="456125"/>
            <a:ext cx="7078320" cy="9831000"/>
          </a:xfrm>
          <a:custGeom>
            <a:avLst/>
            <a:gdLst/>
            <a:ahLst/>
            <a:cxnLst/>
            <a:rect r="r" b="b" t="t" l="l"/>
            <a:pathLst>
              <a:path h="9831000" w="7078320">
                <a:moveTo>
                  <a:pt x="0" y="0"/>
                </a:moveTo>
                <a:lnTo>
                  <a:pt x="7078320" y="0"/>
                </a:lnTo>
                <a:lnTo>
                  <a:pt x="7078320" y="9831000"/>
                </a:lnTo>
                <a:lnTo>
                  <a:pt x="0" y="983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2221" y="1843884"/>
            <a:ext cx="3849873" cy="3527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7"/>
              </a:lnSpc>
              <a:spcBef>
                <a:spcPct val="0"/>
              </a:spcBef>
            </a:pP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</a:t>
            </a: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 Action Hub</a:t>
            </a:r>
          </a:p>
          <a:p>
            <a:pPr algn="ctr" marL="618027" indent="-309014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ll device operations start here</a:t>
            </a:r>
          </a:p>
          <a:p>
            <a:pPr algn="ctr" marL="618027" indent="-309014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Direct interaction with appliances</a:t>
            </a:r>
          </a:p>
          <a:p>
            <a:pPr algn="l">
              <a:lnSpc>
                <a:spcPts val="400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055052" y="1843884"/>
            <a:ext cx="3673394" cy="302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b="true" sz="28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Energy Data Source</a:t>
            </a:r>
          </a:p>
          <a:p>
            <a:pPr algn="l" marL="617473" indent="-308737" lvl="1">
              <a:lnSpc>
                <a:spcPts val="4003"/>
              </a:lnSpc>
              <a:buFont typeface="Arial"/>
              <a:buChar char="•"/>
            </a:pPr>
            <a:r>
              <a:rPr lang="en-US" b="true" sz="28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Generates device-level usage data</a:t>
            </a:r>
          </a:p>
          <a:p>
            <a:pPr algn="l" marL="617473" indent="-308737" lvl="1">
              <a:lnSpc>
                <a:spcPts val="4003"/>
              </a:lnSpc>
              <a:buFont typeface="Arial"/>
              <a:buChar char="•"/>
            </a:pPr>
            <a:r>
              <a:rPr lang="en-US" b="true" sz="28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Foundation for energy tracking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2221" y="6521366"/>
            <a:ext cx="4026352" cy="3527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7"/>
              </a:lnSpc>
            </a:pP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Automation Enab</a:t>
            </a: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ler</a:t>
            </a:r>
          </a:p>
          <a:p>
            <a:pPr algn="just" marL="618027" indent="-309014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Devicestate enables scheduling</a:t>
            </a:r>
          </a:p>
          <a:p>
            <a:pPr algn="just" marL="618027" indent="-309014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Supports automatic ON/OFF</a:t>
            </a:r>
          </a:p>
          <a:p>
            <a:pPr algn="just">
              <a:lnSpc>
                <a:spcPts val="400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055052" y="6521366"/>
            <a:ext cx="4026352" cy="302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7"/>
              </a:lnSpc>
            </a:pP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Decis</a:t>
            </a: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ion Driv</a:t>
            </a: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</a:t>
            </a:r>
          </a:p>
          <a:p>
            <a:pPr algn="just" marL="618027" indent="-309014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Usag</a:t>
            </a: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data feeds analytics</a:t>
            </a:r>
          </a:p>
          <a:p>
            <a:pPr algn="just" marL="618027" indent="-309014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Enablessmart recommendations</a:t>
            </a:r>
          </a:p>
          <a:p>
            <a:pPr algn="just">
              <a:lnSpc>
                <a:spcPts val="400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866467" y="1737741"/>
            <a:ext cx="6312590" cy="687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1:</a:t>
            </a:r>
          </a:p>
          <a:p>
            <a:pPr algn="l">
              <a:lnSpc>
                <a:spcPts val="3636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User logs in (Module 1 validates access)</a:t>
            </a:r>
          </a:p>
          <a:p>
            <a:pPr algn="l">
              <a:lnSpc>
                <a:spcPts val="3636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2:</a:t>
            </a:r>
          </a:p>
          <a:p>
            <a:pPr algn="l">
              <a:lnSpc>
                <a:spcPts val="3636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User turns ON a device (Module 2 executes action)</a:t>
            </a:r>
          </a:p>
          <a:p>
            <a:pPr algn="l">
              <a:lnSpc>
                <a:spcPts val="3636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3:</a:t>
            </a:r>
          </a:p>
          <a:p>
            <a:pPr algn="l">
              <a:lnSpc>
                <a:spcPts val="3636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Device usage is recorded (Module 3)</a:t>
            </a:r>
          </a:p>
          <a:p>
            <a:pPr algn="l">
              <a:lnSpc>
                <a:spcPts val="3636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4:</a:t>
            </a:r>
          </a:p>
          <a:p>
            <a:pPr algn="l">
              <a:lnSpc>
                <a:spcPts val="3636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Usage data is analyzed (Module 4)</a:t>
            </a:r>
          </a:p>
          <a:p>
            <a:pPr algn="l">
              <a:lnSpc>
                <a:spcPts val="3636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5:</a:t>
            </a:r>
          </a:p>
          <a:p>
            <a:pPr algn="l">
              <a:lnSpc>
                <a:spcPts val="3636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Automation or suggestion is generated (Module 5 &amp; 6)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2221" y="453390"/>
            <a:ext cx="18071029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85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Workflow &amp; Automation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37654"/>
            <a:ext cx="5997725" cy="4983766"/>
          </a:xfrm>
          <a:custGeom>
            <a:avLst/>
            <a:gdLst/>
            <a:ahLst/>
            <a:cxnLst/>
            <a:rect r="r" b="b" t="t" l="l"/>
            <a:pathLst>
              <a:path h="4983766" w="5997725">
                <a:moveTo>
                  <a:pt x="0" y="0"/>
                </a:moveTo>
                <a:lnTo>
                  <a:pt x="5997725" y="0"/>
                </a:lnTo>
                <a:lnTo>
                  <a:pt x="5997725" y="4983766"/>
                </a:lnTo>
                <a:lnTo>
                  <a:pt x="0" y="498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13" t="0" r="-661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6802" y="95250"/>
            <a:ext cx="10572498" cy="3641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4939" spc="-29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class diagram</a:t>
            </a: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  <a:p>
            <a:pPr algn="l">
              <a:lnSpc>
                <a:spcPts val="493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500569" y="1137654"/>
            <a:ext cx="4717544" cy="3323724"/>
          </a:xfrm>
          <a:custGeom>
            <a:avLst/>
            <a:gdLst/>
            <a:ahLst/>
            <a:cxnLst/>
            <a:rect r="r" b="b" t="t" l="l"/>
            <a:pathLst>
              <a:path h="3323724" w="4717544">
                <a:moveTo>
                  <a:pt x="0" y="0"/>
                </a:moveTo>
                <a:lnTo>
                  <a:pt x="4717544" y="0"/>
                </a:lnTo>
                <a:lnTo>
                  <a:pt x="4717544" y="3323724"/>
                </a:lnTo>
                <a:lnTo>
                  <a:pt x="0" y="3323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2690" y="6964183"/>
            <a:ext cx="6289746" cy="3043484"/>
          </a:xfrm>
          <a:custGeom>
            <a:avLst/>
            <a:gdLst/>
            <a:ahLst/>
            <a:cxnLst/>
            <a:rect r="r" b="b" t="t" l="l"/>
            <a:pathLst>
              <a:path h="3043484" w="6289746">
                <a:moveTo>
                  <a:pt x="0" y="0"/>
                </a:moveTo>
                <a:lnTo>
                  <a:pt x="6289746" y="0"/>
                </a:lnTo>
                <a:lnTo>
                  <a:pt x="6289746" y="3043484"/>
                </a:lnTo>
                <a:lnTo>
                  <a:pt x="0" y="3043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127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92965" y="5830062"/>
            <a:ext cx="4532751" cy="3886247"/>
          </a:xfrm>
          <a:custGeom>
            <a:avLst/>
            <a:gdLst/>
            <a:ahLst/>
            <a:cxnLst/>
            <a:rect r="r" b="b" t="t" l="l"/>
            <a:pathLst>
              <a:path h="3886247" w="4532751">
                <a:moveTo>
                  <a:pt x="0" y="0"/>
                </a:moveTo>
                <a:lnTo>
                  <a:pt x="4532751" y="0"/>
                </a:lnTo>
                <a:lnTo>
                  <a:pt x="4532751" y="3886247"/>
                </a:lnTo>
                <a:lnTo>
                  <a:pt x="0" y="38862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90" t="-4733" r="-15709" b="-772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698616" y="8730222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4619" y="522274"/>
            <a:ext cx="6519402" cy="50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1"/>
              </a:lnSpc>
              <a:spcBef>
                <a:spcPct val="0"/>
              </a:spcBef>
            </a:pPr>
            <a:r>
              <a:rPr lang="en-US" b="true" sz="2936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57834"/>
            <a:ext cx="4407866" cy="50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6"/>
              </a:lnSpc>
              <a:spcBef>
                <a:spcPct val="0"/>
              </a:spcBef>
            </a:pPr>
            <a:r>
              <a:rPr lang="en-US" b="true" sz="29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DEVICESERVICE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00569" y="4856988"/>
            <a:ext cx="4268347" cy="50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6"/>
              </a:lnSpc>
              <a:spcBef>
                <a:spcPct val="0"/>
              </a:spcBef>
            </a:pPr>
            <a:r>
              <a:rPr lang="en-US" b="true" sz="29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DEVICEREPOSITORY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72922" y="631305"/>
            <a:ext cx="4698712" cy="50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6"/>
              </a:lnSpc>
              <a:spcBef>
                <a:spcPct val="0"/>
              </a:spcBef>
            </a:pPr>
            <a:r>
              <a:rPr lang="en-US" b="true" sz="294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DEVICECONTROLLER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7172436" y="4547203"/>
            <a:ext cx="3357185" cy="2531854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triangle" len="med" w="lg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>
            <a:off x="7324836" y="4022530"/>
            <a:ext cx="3268129" cy="1807532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triangle" len="med" w="lg"/>
            <a:tailEnd type="oval" len="lg" w="lg"/>
          </a:ln>
        </p:spPr>
      </p:sp>
      <p:sp>
        <p:nvSpPr>
          <p:cNvPr name="AutoShape 14" id="14"/>
          <p:cNvSpPr/>
          <p:nvPr/>
        </p:nvSpPr>
        <p:spPr>
          <a:xfrm flipH="true">
            <a:off x="7212948" y="7773186"/>
            <a:ext cx="3380017" cy="640579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triangle" len="med" w="lg"/>
            <a:tailEnd type="oval" len="lg" w="lg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2176"/>
            <a:ext cx="3619500" cy="8229600"/>
          </a:xfrm>
          <a:custGeom>
            <a:avLst/>
            <a:gdLst/>
            <a:ahLst/>
            <a:cxnLst/>
            <a:rect r="r" b="b" t="t" l="l"/>
            <a:pathLst>
              <a:path h="8229600" w="3619500">
                <a:moveTo>
                  <a:pt x="0" y="0"/>
                </a:moveTo>
                <a:lnTo>
                  <a:pt x="3619500" y="0"/>
                </a:lnTo>
                <a:lnTo>
                  <a:pt x="36195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51407" y="-2376691"/>
            <a:ext cx="4415786" cy="4114800"/>
          </a:xfrm>
          <a:custGeom>
            <a:avLst/>
            <a:gdLst/>
            <a:ahLst/>
            <a:cxnLst/>
            <a:rect r="r" b="b" t="t" l="l"/>
            <a:pathLst>
              <a:path h="4114800" w="4415786">
                <a:moveTo>
                  <a:pt x="0" y="0"/>
                </a:moveTo>
                <a:lnTo>
                  <a:pt x="4415786" y="0"/>
                </a:lnTo>
                <a:lnTo>
                  <a:pt x="44157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179193" y="9021830"/>
            <a:ext cx="4415786" cy="4114800"/>
          </a:xfrm>
          <a:custGeom>
            <a:avLst/>
            <a:gdLst/>
            <a:ahLst/>
            <a:cxnLst/>
            <a:rect r="r" b="b" t="t" l="l"/>
            <a:pathLst>
              <a:path h="4114800" w="4415786">
                <a:moveTo>
                  <a:pt x="0" y="4114800"/>
                </a:moveTo>
                <a:lnTo>
                  <a:pt x="4415786" y="4114800"/>
                </a:lnTo>
                <a:lnTo>
                  <a:pt x="441578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516325" y="8229600"/>
            <a:ext cx="4415786" cy="4114800"/>
          </a:xfrm>
          <a:custGeom>
            <a:avLst/>
            <a:gdLst/>
            <a:ahLst/>
            <a:cxnLst/>
            <a:rect r="r" b="b" t="t" l="l"/>
            <a:pathLst>
              <a:path h="4114800" w="4415786">
                <a:moveTo>
                  <a:pt x="0" y="4114800"/>
                </a:moveTo>
                <a:lnTo>
                  <a:pt x="4415787" y="4114800"/>
                </a:lnTo>
                <a:lnTo>
                  <a:pt x="441578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2569269" y="7723366"/>
            <a:ext cx="4415786" cy="4114800"/>
          </a:xfrm>
          <a:custGeom>
            <a:avLst/>
            <a:gdLst/>
            <a:ahLst/>
            <a:cxnLst/>
            <a:rect r="r" b="b" t="t" l="l"/>
            <a:pathLst>
              <a:path h="4114800" w="4415786">
                <a:moveTo>
                  <a:pt x="0" y="4114800"/>
                </a:moveTo>
                <a:lnTo>
                  <a:pt x="4415787" y="4114800"/>
                </a:lnTo>
                <a:lnTo>
                  <a:pt x="441578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5400000">
            <a:off x="-227054" y="2135172"/>
            <a:ext cx="4006932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 Activity Flow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1893" y="-76200"/>
            <a:ext cx="5910523" cy="464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7"/>
              </a:lnSpc>
              <a:spcBef>
                <a:spcPct val="0"/>
              </a:spcBef>
            </a:pPr>
            <a:r>
              <a:rPr lang="en-US" b="true" sz="375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1: User Interaction</a:t>
            </a:r>
          </a:p>
          <a:p>
            <a:pPr algn="l" marL="810778" indent="-405389" lvl="1">
              <a:lnSpc>
                <a:spcPts val="5257"/>
              </a:lnSpc>
              <a:buFont typeface="Arial"/>
              <a:buChar char="•"/>
            </a:pPr>
            <a:r>
              <a:rPr lang="en-US" b="true" sz="375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Authenticated user selects a smart device.</a:t>
            </a:r>
          </a:p>
          <a:p>
            <a:pPr algn="l" marL="810778" indent="-405389" lvl="1">
              <a:lnSpc>
                <a:spcPts val="5257"/>
              </a:lnSpc>
              <a:buFont typeface="Arial"/>
              <a:buChar char="•"/>
            </a:pPr>
            <a:r>
              <a:rPr lang="en-US" b="true" sz="375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Requests ON / OFF or configuration change.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32416" y="-66675"/>
            <a:ext cx="10270840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2: Controller Layer</a:t>
            </a:r>
          </a:p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DeviceController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Accepts device request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Validates user session (from Module 1)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Forwards request to service layer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21893" y="5076825"/>
            <a:ext cx="6222107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3: Service Layer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DeviceService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Applies business rules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Updates device operational state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Calculates power usage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32416" y="3467125"/>
            <a:ext cx="8545017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4: Repository Layer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DeviceRepository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Stores updated device state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Persists configuration in database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61875" y="6426061"/>
            <a:ext cx="8462343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5: Response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Updated device status sent to dashboard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receives real-time feedback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697554"/>
            <a:ext cx="16688707" cy="12125886"/>
          </a:xfrm>
          <a:custGeom>
            <a:avLst/>
            <a:gdLst/>
            <a:ahLst/>
            <a:cxnLst/>
            <a:rect r="r" b="b" t="t" l="l"/>
            <a:pathLst>
              <a:path h="12125886" w="16688707">
                <a:moveTo>
                  <a:pt x="0" y="0"/>
                </a:moveTo>
                <a:lnTo>
                  <a:pt x="16688707" y="0"/>
                </a:lnTo>
                <a:lnTo>
                  <a:pt x="16688707" y="12125886"/>
                </a:lnTo>
                <a:lnTo>
                  <a:pt x="0" y="12125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234" r="0" b="-82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9975" y="-675517"/>
            <a:ext cx="16579325" cy="10735429"/>
          </a:xfrm>
          <a:custGeom>
            <a:avLst/>
            <a:gdLst/>
            <a:ahLst/>
            <a:cxnLst/>
            <a:rect r="r" b="b" t="t" l="l"/>
            <a:pathLst>
              <a:path h="10735429" w="16579325">
                <a:moveTo>
                  <a:pt x="0" y="0"/>
                </a:moveTo>
                <a:lnTo>
                  <a:pt x="16579325" y="0"/>
                </a:lnTo>
                <a:lnTo>
                  <a:pt x="16579325" y="10735429"/>
                </a:lnTo>
                <a:lnTo>
                  <a:pt x="0" y="107354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87" r="0" b="-3087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4404" y="1876372"/>
            <a:ext cx="19713153" cy="5199344"/>
          </a:xfrm>
          <a:custGeom>
            <a:avLst/>
            <a:gdLst/>
            <a:ahLst/>
            <a:cxnLst/>
            <a:rect r="r" b="b" t="t" l="l"/>
            <a:pathLst>
              <a:path h="5199344" w="19713153">
                <a:moveTo>
                  <a:pt x="0" y="0"/>
                </a:moveTo>
                <a:lnTo>
                  <a:pt x="19713152" y="0"/>
                </a:lnTo>
                <a:lnTo>
                  <a:pt x="19713152" y="5199344"/>
                </a:lnTo>
                <a:lnTo>
                  <a:pt x="0" y="5199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60055" y="1348963"/>
            <a:ext cx="9538561" cy="8938037"/>
          </a:xfrm>
          <a:custGeom>
            <a:avLst/>
            <a:gdLst/>
            <a:ahLst/>
            <a:cxnLst/>
            <a:rect r="r" b="b" t="t" l="l"/>
            <a:pathLst>
              <a:path h="8938037" w="9538561">
                <a:moveTo>
                  <a:pt x="0" y="0"/>
                </a:moveTo>
                <a:lnTo>
                  <a:pt x="9538561" y="0"/>
                </a:lnTo>
                <a:lnTo>
                  <a:pt x="9538561" y="8938037"/>
                </a:lnTo>
                <a:lnTo>
                  <a:pt x="0" y="8938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54977" y="-270510"/>
            <a:ext cx="18071029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85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DEVICE REPOSITORY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DAG6SOsMbC8</dc:identifier>
  <dcterms:modified xsi:type="dcterms:W3CDTF">2011-08-01T06:04:30Z</dcterms:modified>
  <cp:revision>1</cp:revision>
  <dc:title>White Beige and Brown Simple Minimalist Clean Final Project Presentation</dc:title>
</cp:coreProperties>
</file>